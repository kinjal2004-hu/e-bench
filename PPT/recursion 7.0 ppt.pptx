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Neue Machina Ultra-Bold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4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5303520"/>
          </a:xfrm>
          <a:custGeom>
            <a:avLst/>
            <a:gdLst/>
            <a:ahLst/>
            <a:cxnLst/>
            <a:rect l="l" t="t" r="r" b="b"/>
            <a:pathLst>
              <a:path w="18288000" h="5303520">
                <a:moveTo>
                  <a:pt x="0" y="0"/>
                </a:moveTo>
                <a:lnTo>
                  <a:pt x="18288000" y="0"/>
                </a:lnTo>
                <a:lnTo>
                  <a:pt x="18288000" y="5303520"/>
                </a:lnTo>
                <a:lnTo>
                  <a:pt x="0" y="530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9725" y="5641598"/>
            <a:ext cx="14174475" cy="3990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46"/>
              </a:lnSpc>
            </a:pPr>
            <a:r>
              <a:rPr sz="2400" b="0" dirty="0"/>
              <a:t>Team Details</a:t>
            </a:r>
          </a:p>
          <a:p>
            <a:pPr algn="l"/>
            <a:endParaRPr sz="2400" b="0" dirty="0"/>
          </a:p>
          <a:p>
            <a:pPr algn="l"/>
            <a:r>
              <a:rPr sz="2400" b="1" dirty="0"/>
              <a:t>Team Name</a:t>
            </a:r>
            <a:r>
              <a:rPr lang="en-US" sz="2400" b="1" dirty="0"/>
              <a:t>: </a:t>
            </a:r>
            <a:r>
              <a:rPr lang="en-US" sz="2400" dirty="0" err="1"/>
              <a:t>TeamPie</a:t>
            </a:r>
            <a:endParaRPr lang="en-US" sz="2400" dirty="0"/>
          </a:p>
          <a:p>
            <a:pPr algn="l"/>
            <a:r>
              <a:rPr sz="2400" b="1" dirty="0"/>
              <a:t>Team Leader Name</a:t>
            </a:r>
            <a:r>
              <a:rPr sz="2400" b="0" dirty="0"/>
              <a:t>: </a:t>
            </a:r>
            <a:r>
              <a:rPr lang="en-US" sz="2400" b="0" dirty="0"/>
              <a:t>Kinjal Ojha</a:t>
            </a:r>
            <a:endParaRPr sz="2400" b="1" dirty="0"/>
          </a:p>
          <a:p>
            <a:pPr algn="l"/>
            <a:r>
              <a:rPr sz="2400" b="1" dirty="0"/>
              <a:t>Problem Statement:</a:t>
            </a:r>
          </a:p>
          <a:p>
            <a:pPr algn="l"/>
            <a:r>
              <a:rPr sz="2400" b="0" dirty="0"/>
              <a:t>- Legal systems are complex and difficult for common people to understand</a:t>
            </a:r>
          </a:p>
          <a:p>
            <a:pPr algn="l"/>
            <a:r>
              <a:rPr sz="2400" b="0" dirty="0"/>
              <a:t>- Lack of awareness about rights leads to exploitation</a:t>
            </a:r>
          </a:p>
          <a:p>
            <a:pPr algn="l"/>
            <a:r>
              <a:rPr sz="2400" b="0" dirty="0"/>
              <a:t>- Legal consultations are expensive and inaccessible</a:t>
            </a:r>
            <a:r>
              <a:rPr lang="en-US" sz="2400" b="0" dirty="0"/>
              <a:t> in sudden situations</a:t>
            </a:r>
            <a:endParaRPr sz="2400" b="0" dirty="0"/>
          </a:p>
          <a:p>
            <a:pPr algn="l"/>
            <a:r>
              <a:rPr sz="2400" b="0" dirty="0"/>
              <a:t>- Users cannot easily interpret legal documents or policies</a:t>
            </a:r>
          </a:p>
          <a:p>
            <a:pPr algn="l"/>
            <a:r>
              <a:rPr sz="2400" b="0" dirty="0"/>
              <a:t>- No real-time system exists to protect users during digital interactions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00" y="0"/>
            <a:ext cx="18288000" cy="1675923"/>
            <a:chOff x="0" y="0"/>
            <a:chExt cx="4816593" cy="441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1395"/>
            </a:xfrm>
            <a:custGeom>
              <a:avLst/>
              <a:gdLst/>
              <a:ahLst/>
              <a:cxnLst/>
              <a:rect l="l" t="t" r="r" b="b"/>
              <a:pathLst>
                <a:path w="4816592" h="441395">
                  <a:moveTo>
                    <a:pt x="0" y="0"/>
                  </a:moveTo>
                  <a:lnTo>
                    <a:pt x="4816592" y="0"/>
                  </a:lnTo>
                  <a:lnTo>
                    <a:pt x="4816592" y="441395"/>
                  </a:lnTo>
                  <a:lnTo>
                    <a:pt x="0" y="4413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7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780609" y="339260"/>
            <a:ext cx="997403" cy="997403"/>
          </a:xfrm>
          <a:custGeom>
            <a:avLst/>
            <a:gdLst/>
            <a:ahLst/>
            <a:cxnLst/>
            <a:rect l="l" t="t" r="r" b="b"/>
            <a:pathLst>
              <a:path w="997403" h="997403">
                <a:moveTo>
                  <a:pt x="0" y="0"/>
                </a:moveTo>
                <a:lnTo>
                  <a:pt x="997404" y="0"/>
                </a:lnTo>
                <a:lnTo>
                  <a:pt x="997404" y="997403"/>
                </a:lnTo>
                <a:lnTo>
                  <a:pt x="0" y="997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67223" y="378324"/>
            <a:ext cx="2112924" cy="919274"/>
            <a:chOff x="0" y="0"/>
            <a:chExt cx="2817231" cy="122569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817231" cy="1225699"/>
              <a:chOff x="0" y="0"/>
              <a:chExt cx="1270288" cy="55266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70288" cy="552667"/>
              </a:xfrm>
              <a:custGeom>
                <a:avLst/>
                <a:gdLst/>
                <a:ahLst/>
                <a:cxnLst/>
                <a:rect l="l" t="t" r="r" b="b"/>
                <a:pathLst>
                  <a:path w="1270288" h="552667">
                    <a:moveTo>
                      <a:pt x="0" y="0"/>
                    </a:moveTo>
                    <a:lnTo>
                      <a:pt x="1270288" y="0"/>
                    </a:lnTo>
                    <a:lnTo>
                      <a:pt x="1270288" y="552667"/>
                    </a:lnTo>
                    <a:lnTo>
                      <a:pt x="0" y="55266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270288" cy="6002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34146" y="0"/>
              <a:ext cx="2783086" cy="1225699"/>
            </a:xfrm>
            <a:custGeom>
              <a:avLst/>
              <a:gdLst/>
              <a:ahLst/>
              <a:cxnLst/>
              <a:rect l="l" t="t" r="r" b="b"/>
              <a:pathLst>
                <a:path w="2783086" h="1225699">
                  <a:moveTo>
                    <a:pt x="0" y="0"/>
                  </a:moveTo>
                  <a:lnTo>
                    <a:pt x="2783085" y="0"/>
                  </a:lnTo>
                  <a:lnTo>
                    <a:pt x="2783085" y="1225699"/>
                  </a:lnTo>
                  <a:lnTo>
                    <a:pt x="0" y="1225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28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0353588" y="567325"/>
            <a:ext cx="2532269" cy="541272"/>
          </a:xfrm>
          <a:custGeom>
            <a:avLst/>
            <a:gdLst/>
            <a:ahLst/>
            <a:cxnLst/>
            <a:rect l="l" t="t" r="r" b="b"/>
            <a:pathLst>
              <a:path w="2532269" h="541272">
                <a:moveTo>
                  <a:pt x="0" y="0"/>
                </a:moveTo>
                <a:lnTo>
                  <a:pt x="2532269" y="0"/>
                </a:lnTo>
                <a:lnTo>
                  <a:pt x="2532269" y="541273"/>
                </a:lnTo>
                <a:lnTo>
                  <a:pt x="0" y="541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542449" y="421708"/>
            <a:ext cx="2475859" cy="832508"/>
          </a:xfrm>
          <a:custGeom>
            <a:avLst/>
            <a:gdLst/>
            <a:ahLst/>
            <a:cxnLst/>
            <a:rect l="l" t="t" r="r" b="b"/>
            <a:pathLst>
              <a:path w="2475859" h="832508">
                <a:moveTo>
                  <a:pt x="0" y="0"/>
                </a:moveTo>
                <a:lnTo>
                  <a:pt x="2475859" y="0"/>
                </a:lnTo>
                <a:lnTo>
                  <a:pt x="2475859" y="832507"/>
                </a:lnTo>
                <a:lnTo>
                  <a:pt x="0" y="8325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648159" y="204099"/>
            <a:ext cx="1262670" cy="1267725"/>
          </a:xfrm>
          <a:custGeom>
            <a:avLst/>
            <a:gdLst/>
            <a:ahLst/>
            <a:cxnLst/>
            <a:rect l="l" t="t" r="r" b="b"/>
            <a:pathLst>
              <a:path w="1262670" h="1267725">
                <a:moveTo>
                  <a:pt x="0" y="0"/>
                </a:moveTo>
                <a:lnTo>
                  <a:pt x="1262669" y="0"/>
                </a:lnTo>
                <a:lnTo>
                  <a:pt x="1262669" y="1267725"/>
                </a:lnTo>
                <a:lnTo>
                  <a:pt x="0" y="12677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723" t="-8289"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8540315" y="316378"/>
            <a:ext cx="1050972" cy="1043167"/>
          </a:xfrm>
          <a:custGeom>
            <a:avLst/>
            <a:gdLst/>
            <a:ahLst/>
            <a:cxnLst/>
            <a:rect l="l" t="t" r="r" b="b"/>
            <a:pathLst>
              <a:path w="1050972" h="1043167">
                <a:moveTo>
                  <a:pt x="0" y="0"/>
                </a:moveTo>
                <a:lnTo>
                  <a:pt x="1050971" y="0"/>
                </a:lnTo>
                <a:lnTo>
                  <a:pt x="1050971" y="1043167"/>
                </a:lnTo>
                <a:lnTo>
                  <a:pt x="0" y="1043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20" t="-2401" r="-820"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5673130" y="387842"/>
            <a:ext cx="1936646" cy="900238"/>
          </a:xfrm>
          <a:custGeom>
            <a:avLst/>
            <a:gdLst/>
            <a:ahLst/>
            <a:cxnLst/>
            <a:rect l="l" t="t" r="r" b="b"/>
            <a:pathLst>
              <a:path w="1936646" h="900238">
                <a:moveTo>
                  <a:pt x="0" y="0"/>
                </a:moveTo>
                <a:lnTo>
                  <a:pt x="1936647" y="0"/>
                </a:lnTo>
                <a:lnTo>
                  <a:pt x="1936647" y="900238"/>
                </a:lnTo>
                <a:lnTo>
                  <a:pt x="0" y="9002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TextBox 17"/>
          <p:cNvSpPr txBox="1"/>
          <p:nvPr/>
        </p:nvSpPr>
        <p:spPr>
          <a:xfrm>
            <a:off x="560450" y="1848862"/>
            <a:ext cx="17792700" cy="82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400" b="1" i="1" u="sng" dirty="0"/>
              <a:t>E-Bench</a:t>
            </a:r>
            <a:r>
              <a:rPr sz="4400" b="1" i="1" u="sng" dirty="0"/>
              <a:t>: AI-Powered Legal Assistance &amp; Real-Time Protec</a:t>
            </a:r>
            <a:r>
              <a:rPr lang="en-IN" sz="4400" b="1" i="1" u="sng" dirty="0" err="1"/>
              <a:t>tion</a:t>
            </a:r>
            <a:r>
              <a:rPr lang="en-IN" sz="4400" b="1" i="1" u="sng" dirty="0"/>
              <a:t> Platform</a:t>
            </a:r>
            <a:endParaRPr sz="4400" b="1" i="1" u="sng" dirty="0"/>
          </a:p>
        </p:txBody>
      </p:sp>
      <p:sp>
        <p:nvSpPr>
          <p:cNvPr id="18" name="TextBox 17"/>
          <p:cNvSpPr txBox="1"/>
          <p:nvPr/>
        </p:nvSpPr>
        <p:spPr>
          <a:xfrm>
            <a:off x="-344899" y="7496264"/>
            <a:ext cx="18821400" cy="452431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lvl="1">
              <a:lnSpc>
                <a:spcPct val="150000"/>
              </a:lnSpc>
            </a:pPr>
            <a:r>
              <a:rPr sz="2800" b="0" dirty="0"/>
              <a:t>- A unified AI-driven platform that simplifies legal knowledge</a:t>
            </a:r>
          </a:p>
          <a:p>
            <a:pPr lvl="1">
              <a:lnSpc>
                <a:spcPct val="150000"/>
              </a:lnSpc>
            </a:pPr>
            <a:r>
              <a:rPr sz="2800" b="0" dirty="0"/>
              <a:t>- Provides instant legal guidance using AI + legal datasets</a:t>
            </a:r>
            <a:endParaRPr lang="en-US" sz="2800" b="0" dirty="0"/>
          </a:p>
          <a:p>
            <a:pPr lvl="1">
              <a:lnSpc>
                <a:spcPct val="150000"/>
              </a:lnSpc>
            </a:pPr>
            <a:r>
              <a:rPr lang="en-IN" sz="2800" dirty="0"/>
              <a:t>- Microlearning with Daily Law Awarnes Topics</a:t>
            </a:r>
            <a:endParaRPr sz="2800" b="0" dirty="0"/>
          </a:p>
          <a:p>
            <a:pPr lvl="1">
              <a:lnSpc>
                <a:spcPct val="150000"/>
              </a:lnSpc>
            </a:pPr>
            <a:r>
              <a:rPr sz="2800" b="0" dirty="0"/>
              <a:t>- Enables users to connect with verified lawyers</a:t>
            </a:r>
            <a:endParaRPr lang="en-US" sz="2800" b="0" dirty="0"/>
          </a:p>
          <a:p>
            <a:pPr lvl="1">
              <a:lnSpc>
                <a:spcPct val="150000"/>
              </a:lnSpc>
            </a:pPr>
            <a:endParaRPr lang="en-US" sz="2800" b="0" dirty="0"/>
          </a:p>
          <a:p>
            <a:pPr lvl="1">
              <a:lnSpc>
                <a:spcPct val="150000"/>
              </a:lnSpc>
            </a:pPr>
            <a:endParaRPr lang="en-IN" sz="2800" dirty="0"/>
          </a:p>
          <a:p>
            <a:pPr lvl="1">
              <a:lnSpc>
                <a:spcPct val="150000"/>
              </a:lnSpc>
            </a:pPr>
            <a:endParaRPr lang="en-IN" sz="2800" b="0" dirty="0"/>
          </a:p>
          <a:p>
            <a:pPr lvl="1">
              <a:lnSpc>
                <a:spcPct val="150000"/>
              </a:lnSpc>
            </a:pPr>
            <a:r>
              <a:rPr sz="2800" b="0" dirty="0"/>
              <a:t>- Includes community forum for discussion and awareness</a:t>
            </a:r>
          </a:p>
          <a:p>
            <a:pPr lvl="1">
              <a:lnSpc>
                <a:spcPct val="150000"/>
              </a:lnSpc>
            </a:pPr>
            <a:r>
              <a:rPr sz="2800" b="0" dirty="0"/>
              <a:t>- Offers case summaries and legal document explanations</a:t>
            </a:r>
          </a:p>
          <a:p>
            <a:pPr lvl="1">
              <a:lnSpc>
                <a:spcPct val="150000"/>
              </a:lnSpc>
            </a:pPr>
            <a:r>
              <a:rPr sz="2800" b="0" dirty="0"/>
              <a:t>- Ensures accessibility via voice-based interaction</a:t>
            </a:r>
          </a:p>
          <a:p>
            <a:pPr lvl="1">
              <a:lnSpc>
                <a:spcPct val="150000"/>
              </a:lnSpc>
            </a:pPr>
            <a:r>
              <a:rPr sz="2800" b="0" dirty="0"/>
              <a:t>- Protects users in real-time through smart policy 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601698-F05F-F21D-7E3D-BF74DB8A7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844014"/>
            <a:ext cx="13869082" cy="3702150"/>
          </a:xfrm>
          <a:prstGeom prst="rect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CB067C8-09F1-D064-22CA-8460F6F6F7CA}"/>
              </a:ext>
            </a:extLst>
          </p:cNvPr>
          <p:cNvSpPr txBox="1"/>
          <p:nvPr/>
        </p:nvSpPr>
        <p:spPr>
          <a:xfrm>
            <a:off x="2209800" y="5817795"/>
            <a:ext cx="388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/>
              <a:t>WORKFLOW</a:t>
            </a:r>
            <a:endParaRPr lang="en-IN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99936F-54AB-BFA2-1593-97D7187A848C}"/>
              </a:ext>
            </a:extLst>
          </p:cNvPr>
          <p:cNvSpPr txBox="1"/>
          <p:nvPr/>
        </p:nvSpPr>
        <p:spPr>
          <a:xfrm>
            <a:off x="7229087" y="6896100"/>
            <a:ext cx="472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/>
              <a:t>Proposed Solution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IN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945D97A-8331-67D6-4C3A-83F03BC87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609" y="1829851"/>
            <a:ext cx="11411022" cy="7836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/>
          <p:cNvGrpSpPr/>
          <p:nvPr/>
        </p:nvGrpSpPr>
        <p:grpSpPr>
          <a:xfrm>
            <a:off x="-5500" y="0"/>
            <a:ext cx="18288000" cy="1675923"/>
            <a:chOff x="0" y="0"/>
            <a:chExt cx="4816593" cy="441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1395"/>
            </a:xfrm>
            <a:custGeom>
              <a:avLst/>
              <a:gdLst/>
              <a:ahLst/>
              <a:cxnLst/>
              <a:rect l="l" t="t" r="r" b="b"/>
              <a:pathLst>
                <a:path w="4816592" h="441395">
                  <a:moveTo>
                    <a:pt x="0" y="0"/>
                  </a:moveTo>
                  <a:lnTo>
                    <a:pt x="4816592" y="0"/>
                  </a:lnTo>
                  <a:lnTo>
                    <a:pt x="4816592" y="441395"/>
                  </a:lnTo>
                  <a:lnTo>
                    <a:pt x="0" y="4413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7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80050" y="1670804"/>
            <a:ext cx="5538258" cy="8615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320"/>
              </a:lnSpc>
              <a:buFont typeface="Wingdings" panose="05000000000000000000" pitchFamily="2" charset="2"/>
              <a:buChar char="q"/>
            </a:pPr>
            <a:r>
              <a:rPr sz="2800" b="1" dirty="0"/>
              <a:t>Technologies Used</a:t>
            </a:r>
          </a:p>
          <a:p>
            <a:pPr lvl="1"/>
            <a:r>
              <a:rPr sz="2600" b="0" dirty="0"/>
              <a:t>- Frontend: React.js / Next.js</a:t>
            </a:r>
          </a:p>
          <a:p>
            <a:pPr lvl="1"/>
            <a:r>
              <a:rPr sz="2600" b="0" dirty="0"/>
              <a:t>- Backend: Node.js / Express</a:t>
            </a:r>
          </a:p>
          <a:p>
            <a:pPr lvl="1"/>
            <a:r>
              <a:rPr sz="2600" b="0" dirty="0"/>
              <a:t>- Database: MongoDB / PostgreSQL</a:t>
            </a:r>
          </a:p>
          <a:p>
            <a:pPr lvl="1"/>
            <a:r>
              <a:rPr sz="2600" b="0" dirty="0"/>
              <a:t>- AI: OpenAI API + RAG (Retrieval Augmented Generation)</a:t>
            </a:r>
          </a:p>
          <a:p>
            <a:pPr lvl="1"/>
            <a:r>
              <a:rPr sz="2600" b="0" dirty="0"/>
              <a:t>- Vector DB: Pinecone / FAISS</a:t>
            </a:r>
          </a:p>
          <a:p>
            <a:pPr lvl="1"/>
            <a:r>
              <a:rPr sz="2600" b="0" dirty="0"/>
              <a:t>- Voice: Whisper / Google Speech API + Twilio</a:t>
            </a:r>
          </a:p>
          <a:p>
            <a:pPr lvl="1"/>
            <a:r>
              <a:rPr sz="2600" b="0" dirty="0"/>
              <a:t>- Extension: Chrome Extension APIs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sz="2800" b="1" dirty="0"/>
              <a:t>Technical Approach (Methodology &amp; Flow)</a:t>
            </a:r>
          </a:p>
          <a:p>
            <a:pPr lvl="1"/>
            <a:r>
              <a:rPr sz="2600" b="0" dirty="0"/>
              <a:t>- User inputs query (text / voice / browser activity)</a:t>
            </a:r>
          </a:p>
          <a:p>
            <a:pPr lvl="1"/>
            <a:r>
              <a:rPr sz="2600" b="0" dirty="0"/>
              <a:t>- Backend processes request</a:t>
            </a:r>
          </a:p>
          <a:p>
            <a:pPr lvl="1"/>
            <a:r>
              <a:rPr sz="2600" b="0" dirty="0"/>
              <a:t>- RAG retrieves relevant legal data (acts, cases)</a:t>
            </a:r>
          </a:p>
          <a:p>
            <a:pPr lvl="1"/>
            <a:r>
              <a:rPr sz="2600" b="0" dirty="0"/>
              <a:t>- AI generates simplified and contextual response</a:t>
            </a:r>
          </a:p>
          <a:p>
            <a:pPr lvl="1"/>
            <a:r>
              <a:rPr sz="2600" b="0" dirty="0"/>
              <a:t>- Output delivered via Dashboard, Voice Agent, Browser Extension</a:t>
            </a:r>
          </a:p>
        </p:txBody>
      </p:sp>
      <p:sp>
        <p:nvSpPr>
          <p:cNvPr id="6" name="Freeform 6"/>
          <p:cNvSpPr/>
          <p:nvPr/>
        </p:nvSpPr>
        <p:spPr>
          <a:xfrm>
            <a:off x="6780609" y="339260"/>
            <a:ext cx="997403" cy="997403"/>
          </a:xfrm>
          <a:custGeom>
            <a:avLst/>
            <a:gdLst/>
            <a:ahLst/>
            <a:cxnLst/>
            <a:rect l="l" t="t" r="r" b="b"/>
            <a:pathLst>
              <a:path w="997403" h="997403">
                <a:moveTo>
                  <a:pt x="0" y="0"/>
                </a:moveTo>
                <a:lnTo>
                  <a:pt x="997404" y="0"/>
                </a:lnTo>
                <a:lnTo>
                  <a:pt x="997404" y="997403"/>
                </a:lnTo>
                <a:lnTo>
                  <a:pt x="0" y="9974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67223" y="378324"/>
            <a:ext cx="2112924" cy="919274"/>
            <a:chOff x="0" y="0"/>
            <a:chExt cx="2817231" cy="122569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817231" cy="1225699"/>
              <a:chOff x="0" y="0"/>
              <a:chExt cx="1270288" cy="55266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70288" cy="552667"/>
              </a:xfrm>
              <a:custGeom>
                <a:avLst/>
                <a:gdLst/>
                <a:ahLst/>
                <a:cxnLst/>
                <a:rect l="l" t="t" r="r" b="b"/>
                <a:pathLst>
                  <a:path w="1270288" h="552667">
                    <a:moveTo>
                      <a:pt x="0" y="0"/>
                    </a:moveTo>
                    <a:lnTo>
                      <a:pt x="1270288" y="0"/>
                    </a:lnTo>
                    <a:lnTo>
                      <a:pt x="1270288" y="552667"/>
                    </a:lnTo>
                    <a:lnTo>
                      <a:pt x="0" y="55266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270288" cy="6002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34146" y="0"/>
              <a:ext cx="2783086" cy="1225699"/>
            </a:xfrm>
            <a:custGeom>
              <a:avLst/>
              <a:gdLst/>
              <a:ahLst/>
              <a:cxnLst/>
              <a:rect l="l" t="t" r="r" b="b"/>
              <a:pathLst>
                <a:path w="2783086" h="1225699">
                  <a:moveTo>
                    <a:pt x="0" y="0"/>
                  </a:moveTo>
                  <a:lnTo>
                    <a:pt x="2783085" y="0"/>
                  </a:lnTo>
                  <a:lnTo>
                    <a:pt x="2783085" y="1225699"/>
                  </a:lnTo>
                  <a:lnTo>
                    <a:pt x="0" y="1225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828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0353588" y="567325"/>
            <a:ext cx="2532269" cy="541272"/>
          </a:xfrm>
          <a:custGeom>
            <a:avLst/>
            <a:gdLst/>
            <a:ahLst/>
            <a:cxnLst/>
            <a:rect l="l" t="t" r="r" b="b"/>
            <a:pathLst>
              <a:path w="2532269" h="541272">
                <a:moveTo>
                  <a:pt x="0" y="0"/>
                </a:moveTo>
                <a:lnTo>
                  <a:pt x="2532269" y="0"/>
                </a:lnTo>
                <a:lnTo>
                  <a:pt x="2532269" y="541273"/>
                </a:lnTo>
                <a:lnTo>
                  <a:pt x="0" y="5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542449" y="421708"/>
            <a:ext cx="2475859" cy="832508"/>
          </a:xfrm>
          <a:custGeom>
            <a:avLst/>
            <a:gdLst/>
            <a:ahLst/>
            <a:cxnLst/>
            <a:rect l="l" t="t" r="r" b="b"/>
            <a:pathLst>
              <a:path w="2475859" h="832508">
                <a:moveTo>
                  <a:pt x="0" y="0"/>
                </a:moveTo>
                <a:lnTo>
                  <a:pt x="2475859" y="0"/>
                </a:lnTo>
                <a:lnTo>
                  <a:pt x="2475859" y="832507"/>
                </a:lnTo>
                <a:lnTo>
                  <a:pt x="0" y="8325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648159" y="204099"/>
            <a:ext cx="1262670" cy="1267725"/>
          </a:xfrm>
          <a:custGeom>
            <a:avLst/>
            <a:gdLst/>
            <a:ahLst/>
            <a:cxnLst/>
            <a:rect l="l" t="t" r="r" b="b"/>
            <a:pathLst>
              <a:path w="1262670" h="1267725">
                <a:moveTo>
                  <a:pt x="0" y="0"/>
                </a:moveTo>
                <a:lnTo>
                  <a:pt x="1262669" y="0"/>
                </a:lnTo>
                <a:lnTo>
                  <a:pt x="1262669" y="1267725"/>
                </a:lnTo>
                <a:lnTo>
                  <a:pt x="0" y="12677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723" t="-8289"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8540315" y="316378"/>
            <a:ext cx="1050972" cy="1043167"/>
          </a:xfrm>
          <a:custGeom>
            <a:avLst/>
            <a:gdLst/>
            <a:ahLst/>
            <a:cxnLst/>
            <a:rect l="l" t="t" r="r" b="b"/>
            <a:pathLst>
              <a:path w="1050972" h="1043167">
                <a:moveTo>
                  <a:pt x="0" y="0"/>
                </a:moveTo>
                <a:lnTo>
                  <a:pt x="1050971" y="0"/>
                </a:lnTo>
                <a:lnTo>
                  <a:pt x="1050971" y="1043167"/>
                </a:lnTo>
                <a:lnTo>
                  <a:pt x="0" y="10431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20" t="-2401" r="-820"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5673130" y="387842"/>
            <a:ext cx="1936646" cy="900238"/>
          </a:xfrm>
          <a:custGeom>
            <a:avLst/>
            <a:gdLst/>
            <a:ahLst/>
            <a:cxnLst/>
            <a:rect l="l" t="t" r="r" b="b"/>
            <a:pathLst>
              <a:path w="1936646" h="900238">
                <a:moveTo>
                  <a:pt x="0" y="0"/>
                </a:moveTo>
                <a:lnTo>
                  <a:pt x="1936647" y="0"/>
                </a:lnTo>
                <a:lnTo>
                  <a:pt x="1936647" y="900238"/>
                </a:lnTo>
                <a:lnTo>
                  <a:pt x="0" y="900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9B84C3-EE29-AF4E-E730-F1FD198ADED1}"/>
              </a:ext>
            </a:extLst>
          </p:cNvPr>
          <p:cNvSpPr txBox="1"/>
          <p:nvPr/>
        </p:nvSpPr>
        <p:spPr>
          <a:xfrm>
            <a:off x="10820400" y="9019803"/>
            <a:ext cx="5005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/>
              <a:t>ARCHITECTURE</a:t>
            </a:r>
            <a:endParaRPr lang="en-IN" sz="3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00" y="0"/>
            <a:ext cx="18288000" cy="1675923"/>
            <a:chOff x="0" y="0"/>
            <a:chExt cx="4816593" cy="441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1395"/>
            </a:xfrm>
            <a:custGeom>
              <a:avLst/>
              <a:gdLst/>
              <a:ahLst/>
              <a:cxnLst/>
              <a:rect l="l" t="t" r="r" b="b"/>
              <a:pathLst>
                <a:path w="4816592" h="441395">
                  <a:moveTo>
                    <a:pt x="0" y="0"/>
                  </a:moveTo>
                  <a:lnTo>
                    <a:pt x="4816592" y="0"/>
                  </a:lnTo>
                  <a:lnTo>
                    <a:pt x="4816592" y="441395"/>
                  </a:lnTo>
                  <a:lnTo>
                    <a:pt x="0" y="4413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7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5517" y="5799392"/>
            <a:ext cx="13777683" cy="4308872"/>
          </a:xfrm>
          <a:prstGeom prst="rect">
            <a:avLst/>
          </a:prstGeom>
        </p:spPr>
        <p:txBody>
          <a:bodyPr wrap="square" lIns="0" tIns="0" rIns="0" bIns="0" numCol="2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sz="3200" b="1" dirty="0"/>
              <a:t>Potential Challenges &amp; Risks</a:t>
            </a:r>
          </a:p>
          <a:p>
            <a:pPr lvl="1">
              <a:lnSpc>
                <a:spcPct val="150000"/>
              </a:lnSpc>
            </a:pPr>
            <a:r>
              <a:rPr sz="2400" b="0" dirty="0"/>
              <a:t>-</a:t>
            </a:r>
            <a:r>
              <a:rPr sz="2800" b="0" dirty="0"/>
              <a:t> Accuracy of AI-generated legal responses</a:t>
            </a:r>
          </a:p>
          <a:p>
            <a:pPr lvl="1">
              <a:lnSpc>
                <a:spcPct val="150000"/>
              </a:lnSpc>
            </a:pPr>
            <a:r>
              <a:rPr sz="2800" b="0" dirty="0"/>
              <a:t>- Handling sensitive legal advice</a:t>
            </a:r>
          </a:p>
          <a:p>
            <a:pPr lvl="1">
              <a:lnSpc>
                <a:spcPct val="150000"/>
              </a:lnSpc>
            </a:pPr>
            <a:r>
              <a:rPr sz="2800" b="0" dirty="0"/>
              <a:t>- Real-time voice processing latency</a:t>
            </a:r>
          </a:p>
          <a:p>
            <a:pPr lvl="1">
              <a:lnSpc>
                <a:spcPct val="150000"/>
              </a:lnSpc>
            </a:pPr>
            <a:r>
              <a:rPr sz="2800" b="0" dirty="0"/>
              <a:t>- Complexity of legal language in documents</a:t>
            </a:r>
            <a:endParaRPr lang="en-US" sz="2800" b="0" dirty="0"/>
          </a:p>
          <a:p>
            <a:pPr lvl="1"/>
            <a:endParaRPr lang="en-IN" sz="2400" dirty="0"/>
          </a:p>
          <a:p>
            <a:pPr lvl="1"/>
            <a:endParaRPr lang="en-IN" sz="2400" dirty="0"/>
          </a:p>
          <a:p>
            <a:pPr lvl="1"/>
            <a:endParaRPr lang="en-IN" sz="2400" b="0" dirty="0"/>
          </a:p>
          <a:p>
            <a:pPr lvl="1"/>
            <a:endParaRPr sz="2400" b="0" dirty="0"/>
          </a:p>
        </p:txBody>
      </p:sp>
      <p:sp>
        <p:nvSpPr>
          <p:cNvPr id="6" name="Freeform 6"/>
          <p:cNvSpPr/>
          <p:nvPr/>
        </p:nvSpPr>
        <p:spPr>
          <a:xfrm>
            <a:off x="6780609" y="339260"/>
            <a:ext cx="997403" cy="997403"/>
          </a:xfrm>
          <a:custGeom>
            <a:avLst/>
            <a:gdLst/>
            <a:ahLst/>
            <a:cxnLst/>
            <a:rect l="l" t="t" r="r" b="b"/>
            <a:pathLst>
              <a:path w="997403" h="997403">
                <a:moveTo>
                  <a:pt x="0" y="0"/>
                </a:moveTo>
                <a:lnTo>
                  <a:pt x="997404" y="0"/>
                </a:lnTo>
                <a:lnTo>
                  <a:pt x="997404" y="997403"/>
                </a:lnTo>
                <a:lnTo>
                  <a:pt x="0" y="997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67223" y="378324"/>
            <a:ext cx="2112924" cy="919274"/>
            <a:chOff x="0" y="0"/>
            <a:chExt cx="2817231" cy="122569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817231" cy="1225699"/>
              <a:chOff x="0" y="0"/>
              <a:chExt cx="1270288" cy="55266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70288" cy="552667"/>
              </a:xfrm>
              <a:custGeom>
                <a:avLst/>
                <a:gdLst/>
                <a:ahLst/>
                <a:cxnLst/>
                <a:rect l="l" t="t" r="r" b="b"/>
                <a:pathLst>
                  <a:path w="1270288" h="552667">
                    <a:moveTo>
                      <a:pt x="0" y="0"/>
                    </a:moveTo>
                    <a:lnTo>
                      <a:pt x="1270288" y="0"/>
                    </a:lnTo>
                    <a:lnTo>
                      <a:pt x="1270288" y="552667"/>
                    </a:lnTo>
                    <a:lnTo>
                      <a:pt x="0" y="55266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270288" cy="6002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34146" y="0"/>
              <a:ext cx="2783086" cy="1225699"/>
            </a:xfrm>
            <a:custGeom>
              <a:avLst/>
              <a:gdLst/>
              <a:ahLst/>
              <a:cxnLst/>
              <a:rect l="l" t="t" r="r" b="b"/>
              <a:pathLst>
                <a:path w="2783086" h="1225699">
                  <a:moveTo>
                    <a:pt x="0" y="0"/>
                  </a:moveTo>
                  <a:lnTo>
                    <a:pt x="2783085" y="0"/>
                  </a:lnTo>
                  <a:lnTo>
                    <a:pt x="2783085" y="1225699"/>
                  </a:lnTo>
                  <a:lnTo>
                    <a:pt x="0" y="1225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28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0353588" y="567325"/>
            <a:ext cx="2532269" cy="541272"/>
          </a:xfrm>
          <a:custGeom>
            <a:avLst/>
            <a:gdLst/>
            <a:ahLst/>
            <a:cxnLst/>
            <a:rect l="l" t="t" r="r" b="b"/>
            <a:pathLst>
              <a:path w="2532269" h="541272">
                <a:moveTo>
                  <a:pt x="0" y="0"/>
                </a:moveTo>
                <a:lnTo>
                  <a:pt x="2532269" y="0"/>
                </a:lnTo>
                <a:lnTo>
                  <a:pt x="2532269" y="541273"/>
                </a:lnTo>
                <a:lnTo>
                  <a:pt x="0" y="541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542449" y="421708"/>
            <a:ext cx="2475859" cy="832508"/>
          </a:xfrm>
          <a:custGeom>
            <a:avLst/>
            <a:gdLst/>
            <a:ahLst/>
            <a:cxnLst/>
            <a:rect l="l" t="t" r="r" b="b"/>
            <a:pathLst>
              <a:path w="2475859" h="832508">
                <a:moveTo>
                  <a:pt x="0" y="0"/>
                </a:moveTo>
                <a:lnTo>
                  <a:pt x="2475859" y="0"/>
                </a:lnTo>
                <a:lnTo>
                  <a:pt x="2475859" y="832507"/>
                </a:lnTo>
                <a:lnTo>
                  <a:pt x="0" y="8325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648159" y="204099"/>
            <a:ext cx="1262670" cy="1267725"/>
          </a:xfrm>
          <a:custGeom>
            <a:avLst/>
            <a:gdLst/>
            <a:ahLst/>
            <a:cxnLst/>
            <a:rect l="l" t="t" r="r" b="b"/>
            <a:pathLst>
              <a:path w="1262670" h="1267725">
                <a:moveTo>
                  <a:pt x="0" y="0"/>
                </a:moveTo>
                <a:lnTo>
                  <a:pt x="1262669" y="0"/>
                </a:lnTo>
                <a:lnTo>
                  <a:pt x="1262669" y="1267725"/>
                </a:lnTo>
                <a:lnTo>
                  <a:pt x="0" y="12677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723" t="-8289"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8540315" y="316378"/>
            <a:ext cx="1050972" cy="1043167"/>
          </a:xfrm>
          <a:custGeom>
            <a:avLst/>
            <a:gdLst/>
            <a:ahLst/>
            <a:cxnLst/>
            <a:rect l="l" t="t" r="r" b="b"/>
            <a:pathLst>
              <a:path w="1050972" h="1043167">
                <a:moveTo>
                  <a:pt x="0" y="0"/>
                </a:moveTo>
                <a:lnTo>
                  <a:pt x="1050971" y="0"/>
                </a:lnTo>
                <a:lnTo>
                  <a:pt x="1050971" y="1043167"/>
                </a:lnTo>
                <a:lnTo>
                  <a:pt x="0" y="1043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20" t="-2401" r="-820"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5673130" y="387842"/>
            <a:ext cx="1936646" cy="900238"/>
          </a:xfrm>
          <a:custGeom>
            <a:avLst/>
            <a:gdLst/>
            <a:ahLst/>
            <a:cxnLst/>
            <a:rect l="l" t="t" r="r" b="b"/>
            <a:pathLst>
              <a:path w="1936646" h="900238">
                <a:moveTo>
                  <a:pt x="0" y="0"/>
                </a:moveTo>
                <a:lnTo>
                  <a:pt x="1936647" y="0"/>
                </a:lnTo>
                <a:lnTo>
                  <a:pt x="1936647" y="900238"/>
                </a:lnTo>
                <a:lnTo>
                  <a:pt x="0" y="9002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BD7677-AF77-B098-1696-697332DA3088}"/>
              </a:ext>
            </a:extLst>
          </p:cNvPr>
          <p:cNvSpPr txBox="1"/>
          <p:nvPr/>
        </p:nvSpPr>
        <p:spPr>
          <a:xfrm>
            <a:off x="110750" y="1788202"/>
            <a:ext cx="14337119" cy="384464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457200" indent="-457200">
              <a:lnSpc>
                <a:spcPts val="432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Feasibility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- Built using existing scalable technologies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- Modular architecture allows phased development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- MVP achievable within limited time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- Uses publicly available legal datasets</a:t>
            </a:r>
          </a:p>
          <a:p>
            <a:pPr lvl="1"/>
            <a:endParaRPr lang="en-US" sz="3200" b="1" dirty="0">
              <a:sym typeface="Neue Machina Ultra-Bold"/>
            </a:endParaRPr>
          </a:p>
          <a:p>
            <a:pPr lvl="1"/>
            <a:endParaRPr lang="en-US" sz="3200" b="1" dirty="0">
              <a:sym typeface="Neue Machina Ultra-Bold"/>
            </a:endParaRPr>
          </a:p>
          <a:p>
            <a:pPr lvl="1"/>
            <a:endParaRPr lang="en-US" sz="3200" b="1" dirty="0">
              <a:sym typeface="Neue Machina Ultra-Bold"/>
            </a:endParaRPr>
          </a:p>
          <a:p>
            <a:pPr lvl="1"/>
            <a:endParaRPr lang="en-US" sz="3200" b="1" dirty="0">
              <a:sym typeface="Neue Machina Ultra-Bold"/>
            </a:endParaRPr>
          </a:p>
          <a:p>
            <a:pPr lvl="1"/>
            <a:endParaRPr lang="en-US" sz="3200" b="1" dirty="0">
              <a:sym typeface="Neue Machina Ultra-Bold"/>
            </a:endParaRPr>
          </a:p>
          <a:p>
            <a:pPr lvl="1"/>
            <a:endParaRPr lang="en-US" sz="3200" b="1" dirty="0">
              <a:sym typeface="Neue Machina Ultra-Bold"/>
            </a:endParaRPr>
          </a:p>
          <a:p>
            <a:pPr lvl="1"/>
            <a:endParaRPr lang="en-US" sz="3200" b="1" dirty="0">
              <a:sym typeface="Neue Machina Ultra-Bold"/>
            </a:endParaRPr>
          </a:p>
          <a:p>
            <a:pPr lvl="1"/>
            <a:endParaRPr lang="en-US" sz="3200" b="1" dirty="0">
              <a:sym typeface="Neue Machina Ultra-Bold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B36A8A-2D5E-1400-0F8C-0A6E5693FBD1}"/>
              </a:ext>
            </a:extLst>
          </p:cNvPr>
          <p:cNvSpPr txBox="1"/>
          <p:nvPr/>
        </p:nvSpPr>
        <p:spPr>
          <a:xfrm>
            <a:off x="7399457" y="1820584"/>
            <a:ext cx="10972800" cy="3783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432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Viability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- Scalable revenue model through lawyer subscriptions, premium consultations, and API access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- High market demand due to low legal awareness among large population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- Easy integration with existing legal systems and expansion across regions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- Continuous improvement using AI learning and user-generated data</a:t>
            </a:r>
          </a:p>
          <a:p>
            <a:endParaRPr lang="en-US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9FD5C0-2EF3-80AB-8F3D-9AD16EE7189B}"/>
              </a:ext>
            </a:extLst>
          </p:cNvPr>
          <p:cNvSpPr txBox="1"/>
          <p:nvPr/>
        </p:nvSpPr>
        <p:spPr>
          <a:xfrm>
            <a:off x="7399457" y="5745123"/>
            <a:ext cx="951694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/>
              <a:t>Strategies to Overcome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- Use RAG with verified legal sources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- Add disclaimer + lawyer verification system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- Optimize APIs for low latency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- Use chunking &amp; preprocessing for documents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00" y="0"/>
            <a:ext cx="18288000" cy="1675923"/>
            <a:chOff x="0" y="0"/>
            <a:chExt cx="4816593" cy="4413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1395"/>
            </a:xfrm>
            <a:custGeom>
              <a:avLst/>
              <a:gdLst/>
              <a:ahLst/>
              <a:cxnLst/>
              <a:rect l="l" t="t" r="r" b="b"/>
              <a:pathLst>
                <a:path w="4816592" h="441395">
                  <a:moveTo>
                    <a:pt x="0" y="0"/>
                  </a:moveTo>
                  <a:lnTo>
                    <a:pt x="4816592" y="0"/>
                  </a:lnTo>
                  <a:lnTo>
                    <a:pt x="4816592" y="441395"/>
                  </a:lnTo>
                  <a:lnTo>
                    <a:pt x="0" y="4413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79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780609" y="339260"/>
            <a:ext cx="997403" cy="997403"/>
          </a:xfrm>
          <a:custGeom>
            <a:avLst/>
            <a:gdLst/>
            <a:ahLst/>
            <a:cxnLst/>
            <a:rect l="l" t="t" r="r" b="b"/>
            <a:pathLst>
              <a:path w="997403" h="997403">
                <a:moveTo>
                  <a:pt x="0" y="0"/>
                </a:moveTo>
                <a:lnTo>
                  <a:pt x="997404" y="0"/>
                </a:lnTo>
                <a:lnTo>
                  <a:pt x="997404" y="997403"/>
                </a:lnTo>
                <a:lnTo>
                  <a:pt x="0" y="997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67223" y="378324"/>
            <a:ext cx="2112924" cy="919274"/>
            <a:chOff x="0" y="0"/>
            <a:chExt cx="2817231" cy="122569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817231" cy="1225699"/>
              <a:chOff x="0" y="0"/>
              <a:chExt cx="1270288" cy="55266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270288" cy="552667"/>
              </a:xfrm>
              <a:custGeom>
                <a:avLst/>
                <a:gdLst/>
                <a:ahLst/>
                <a:cxnLst/>
                <a:rect l="l" t="t" r="r" b="b"/>
                <a:pathLst>
                  <a:path w="1270288" h="552667">
                    <a:moveTo>
                      <a:pt x="0" y="0"/>
                    </a:moveTo>
                    <a:lnTo>
                      <a:pt x="1270288" y="0"/>
                    </a:lnTo>
                    <a:lnTo>
                      <a:pt x="1270288" y="552667"/>
                    </a:lnTo>
                    <a:lnTo>
                      <a:pt x="0" y="55266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270288" cy="6002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34146" y="0"/>
              <a:ext cx="2783086" cy="1225699"/>
            </a:xfrm>
            <a:custGeom>
              <a:avLst/>
              <a:gdLst/>
              <a:ahLst/>
              <a:cxnLst/>
              <a:rect l="l" t="t" r="r" b="b"/>
              <a:pathLst>
                <a:path w="2783086" h="1225699">
                  <a:moveTo>
                    <a:pt x="0" y="0"/>
                  </a:moveTo>
                  <a:lnTo>
                    <a:pt x="2783085" y="0"/>
                  </a:lnTo>
                  <a:lnTo>
                    <a:pt x="2783085" y="1225699"/>
                  </a:lnTo>
                  <a:lnTo>
                    <a:pt x="0" y="1225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28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0353588" y="567325"/>
            <a:ext cx="2532269" cy="541272"/>
          </a:xfrm>
          <a:custGeom>
            <a:avLst/>
            <a:gdLst/>
            <a:ahLst/>
            <a:cxnLst/>
            <a:rect l="l" t="t" r="r" b="b"/>
            <a:pathLst>
              <a:path w="2532269" h="541272">
                <a:moveTo>
                  <a:pt x="0" y="0"/>
                </a:moveTo>
                <a:lnTo>
                  <a:pt x="2532269" y="0"/>
                </a:lnTo>
                <a:lnTo>
                  <a:pt x="2532269" y="541273"/>
                </a:lnTo>
                <a:lnTo>
                  <a:pt x="0" y="541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542449" y="421708"/>
            <a:ext cx="2475859" cy="832508"/>
          </a:xfrm>
          <a:custGeom>
            <a:avLst/>
            <a:gdLst/>
            <a:ahLst/>
            <a:cxnLst/>
            <a:rect l="l" t="t" r="r" b="b"/>
            <a:pathLst>
              <a:path w="2475859" h="832508">
                <a:moveTo>
                  <a:pt x="0" y="0"/>
                </a:moveTo>
                <a:lnTo>
                  <a:pt x="2475859" y="0"/>
                </a:lnTo>
                <a:lnTo>
                  <a:pt x="2475859" y="832507"/>
                </a:lnTo>
                <a:lnTo>
                  <a:pt x="0" y="8325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648159" y="204099"/>
            <a:ext cx="1262670" cy="1267725"/>
          </a:xfrm>
          <a:custGeom>
            <a:avLst/>
            <a:gdLst/>
            <a:ahLst/>
            <a:cxnLst/>
            <a:rect l="l" t="t" r="r" b="b"/>
            <a:pathLst>
              <a:path w="1262670" h="1267725">
                <a:moveTo>
                  <a:pt x="0" y="0"/>
                </a:moveTo>
                <a:lnTo>
                  <a:pt x="1262669" y="0"/>
                </a:lnTo>
                <a:lnTo>
                  <a:pt x="1262669" y="1267725"/>
                </a:lnTo>
                <a:lnTo>
                  <a:pt x="0" y="12677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723" t="-8289"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8540315" y="316378"/>
            <a:ext cx="1050972" cy="1043167"/>
          </a:xfrm>
          <a:custGeom>
            <a:avLst/>
            <a:gdLst/>
            <a:ahLst/>
            <a:cxnLst/>
            <a:rect l="l" t="t" r="r" b="b"/>
            <a:pathLst>
              <a:path w="1050972" h="1043167">
                <a:moveTo>
                  <a:pt x="0" y="0"/>
                </a:moveTo>
                <a:lnTo>
                  <a:pt x="1050971" y="0"/>
                </a:lnTo>
                <a:lnTo>
                  <a:pt x="1050971" y="1043167"/>
                </a:lnTo>
                <a:lnTo>
                  <a:pt x="0" y="1043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20" t="-2401" r="-820"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15673130" y="387842"/>
            <a:ext cx="1936646" cy="900238"/>
          </a:xfrm>
          <a:custGeom>
            <a:avLst/>
            <a:gdLst/>
            <a:ahLst/>
            <a:cxnLst/>
            <a:rect l="l" t="t" r="r" b="b"/>
            <a:pathLst>
              <a:path w="1936646" h="900238">
                <a:moveTo>
                  <a:pt x="0" y="0"/>
                </a:moveTo>
                <a:lnTo>
                  <a:pt x="1936647" y="0"/>
                </a:lnTo>
                <a:lnTo>
                  <a:pt x="1936647" y="900238"/>
                </a:lnTo>
                <a:lnTo>
                  <a:pt x="0" y="9002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TextBox 17"/>
          <p:cNvSpPr txBox="1"/>
          <p:nvPr/>
        </p:nvSpPr>
        <p:spPr>
          <a:xfrm>
            <a:off x="397721" y="2601875"/>
            <a:ext cx="9955867" cy="64325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sz="4400" b="1" dirty="0"/>
              <a:t>Impact</a:t>
            </a:r>
          </a:p>
          <a:p>
            <a:pPr lvl="1"/>
            <a:r>
              <a:rPr sz="3600" b="0" dirty="0"/>
              <a:t>- Makes legal knowledge accessible to everyone</a:t>
            </a:r>
          </a:p>
          <a:p>
            <a:pPr lvl="1"/>
            <a:r>
              <a:rPr sz="3600" b="0" dirty="0"/>
              <a:t>- Empowers citizens to understand their rights</a:t>
            </a:r>
          </a:p>
          <a:p>
            <a:pPr lvl="1"/>
            <a:r>
              <a:rPr sz="3600" b="0" dirty="0"/>
              <a:t>- Helps rural and non-tech users via voice support</a:t>
            </a:r>
          </a:p>
          <a:p>
            <a:pPr lvl="1"/>
            <a:r>
              <a:rPr sz="3600" b="0" dirty="0"/>
              <a:t>- Prevents digital fraud through real-time alerts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sz="4400" b="1" dirty="0"/>
              <a:t>Benefits</a:t>
            </a:r>
          </a:p>
          <a:p>
            <a:pPr lvl="1"/>
            <a:r>
              <a:rPr sz="3600" b="0" dirty="0"/>
              <a:t>- Affordable and instant legal assistance</a:t>
            </a:r>
          </a:p>
          <a:p>
            <a:pPr lvl="1"/>
            <a:r>
              <a:rPr sz="3600" b="0" dirty="0"/>
              <a:t>- Easy access to lawyers and legal help</a:t>
            </a:r>
          </a:p>
          <a:p>
            <a:pPr lvl="1"/>
            <a:r>
              <a:rPr sz="3600" b="0" dirty="0"/>
              <a:t>- Simplified understanding of complex policies</a:t>
            </a:r>
          </a:p>
          <a:p>
            <a:pPr lvl="1"/>
            <a:r>
              <a:rPr sz="3600" b="0" dirty="0"/>
              <a:t>- Real-time protection from hidden terms &amp; risks</a:t>
            </a:r>
          </a:p>
          <a:p>
            <a:pPr lvl="1"/>
            <a:r>
              <a:rPr sz="3600" b="0" dirty="0"/>
              <a:t>- Scalable solution for nationwide legal awareness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EC7A9C-9B49-43FF-1746-965A0B4FE570}"/>
              </a:ext>
            </a:extLst>
          </p:cNvPr>
          <p:cNvSpPr txBox="1"/>
          <p:nvPr/>
        </p:nvSpPr>
        <p:spPr>
          <a:xfrm>
            <a:off x="11593782" y="2014019"/>
            <a:ext cx="6380878" cy="79714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IN" sz="3600" b="1" u="sng" dirty="0"/>
              <a:t>RAG Pipeline Detail</a:t>
            </a:r>
          </a:p>
          <a:p>
            <a:pPr lvl="2"/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User query embedded with BAAI/bge-base-en-v1.5 (768-dim)</a:t>
            </a: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Retrieve FAISS inner-product search → top-60 candidate statute sections </a:t>
            </a: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 err="1"/>
              <a:t>Rerank</a:t>
            </a:r>
            <a:r>
              <a:rPr lang="en-IN" sz="3200" dirty="0"/>
              <a:t> </a:t>
            </a:r>
            <a:r>
              <a:rPr lang="en-IN" sz="3200" dirty="0" err="1"/>
              <a:t>CrossEncoder</a:t>
            </a:r>
            <a:r>
              <a:rPr lang="en-IN" sz="3200" dirty="0"/>
              <a:t> (ms-marco-MiniLM-L-6-v2) scores pairs; hybrid score = 0.35 × vector + 0.65 × </a:t>
            </a:r>
            <a:r>
              <a:rPr lang="en-IN" sz="3200" dirty="0" err="1"/>
              <a:t>rerank</a:t>
            </a: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/>
              <a:t>Generate Top-7 sections + Indian Kanoon cases → Qwen 2.5-7B-Instruct generates cited answer</a:t>
            </a:r>
            <a:endParaRPr lang="en-IN" sz="2800" dirty="0"/>
          </a:p>
          <a:p>
            <a:r>
              <a:rPr lang="en-IN" sz="3200" dirty="0"/>
              <a:t> 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500" y="-1408282"/>
            <a:ext cx="18288000" cy="3086100"/>
            <a:chOff x="0" y="0"/>
            <a:chExt cx="481659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786109" y="339260"/>
            <a:ext cx="997403" cy="997403"/>
          </a:xfrm>
          <a:custGeom>
            <a:avLst/>
            <a:gdLst/>
            <a:ahLst/>
            <a:cxnLst/>
            <a:rect l="l" t="t" r="r" b="b"/>
            <a:pathLst>
              <a:path w="997403" h="997403">
                <a:moveTo>
                  <a:pt x="0" y="0"/>
                </a:moveTo>
                <a:lnTo>
                  <a:pt x="997404" y="0"/>
                </a:lnTo>
                <a:lnTo>
                  <a:pt x="997404" y="997403"/>
                </a:lnTo>
                <a:lnTo>
                  <a:pt x="0" y="997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72723" y="378324"/>
            <a:ext cx="2112924" cy="919274"/>
            <a:chOff x="0" y="0"/>
            <a:chExt cx="2817231" cy="1225699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817231" cy="1225699"/>
              <a:chOff x="0" y="0"/>
              <a:chExt cx="1270288" cy="55266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270288" cy="552667"/>
              </a:xfrm>
              <a:custGeom>
                <a:avLst/>
                <a:gdLst/>
                <a:ahLst/>
                <a:cxnLst/>
                <a:rect l="l" t="t" r="r" b="b"/>
                <a:pathLst>
                  <a:path w="1270288" h="552667">
                    <a:moveTo>
                      <a:pt x="0" y="0"/>
                    </a:moveTo>
                    <a:lnTo>
                      <a:pt x="1270288" y="0"/>
                    </a:lnTo>
                    <a:lnTo>
                      <a:pt x="1270288" y="552667"/>
                    </a:lnTo>
                    <a:lnTo>
                      <a:pt x="0" y="55266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1270288" cy="6002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>
              <a:off x="34146" y="0"/>
              <a:ext cx="2783086" cy="1225699"/>
            </a:xfrm>
            <a:custGeom>
              <a:avLst/>
              <a:gdLst/>
              <a:ahLst/>
              <a:cxnLst/>
              <a:rect l="l" t="t" r="r" b="b"/>
              <a:pathLst>
                <a:path w="2783086" h="1225699">
                  <a:moveTo>
                    <a:pt x="0" y="0"/>
                  </a:moveTo>
                  <a:lnTo>
                    <a:pt x="2783085" y="0"/>
                  </a:lnTo>
                  <a:lnTo>
                    <a:pt x="2783085" y="1225699"/>
                  </a:lnTo>
                  <a:lnTo>
                    <a:pt x="0" y="1225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28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0359088" y="567325"/>
            <a:ext cx="2532269" cy="541272"/>
          </a:xfrm>
          <a:custGeom>
            <a:avLst/>
            <a:gdLst/>
            <a:ahLst/>
            <a:cxnLst/>
            <a:rect l="l" t="t" r="r" b="b"/>
            <a:pathLst>
              <a:path w="2532269" h="541272">
                <a:moveTo>
                  <a:pt x="0" y="0"/>
                </a:moveTo>
                <a:lnTo>
                  <a:pt x="2532269" y="0"/>
                </a:lnTo>
                <a:lnTo>
                  <a:pt x="2532269" y="541273"/>
                </a:lnTo>
                <a:lnTo>
                  <a:pt x="0" y="541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547949" y="421708"/>
            <a:ext cx="2475859" cy="832508"/>
          </a:xfrm>
          <a:custGeom>
            <a:avLst/>
            <a:gdLst/>
            <a:ahLst/>
            <a:cxnLst/>
            <a:rect l="l" t="t" r="r" b="b"/>
            <a:pathLst>
              <a:path w="2475859" h="832508">
                <a:moveTo>
                  <a:pt x="0" y="0"/>
                </a:moveTo>
                <a:lnTo>
                  <a:pt x="2475859" y="0"/>
                </a:lnTo>
                <a:lnTo>
                  <a:pt x="2475859" y="832507"/>
                </a:lnTo>
                <a:lnTo>
                  <a:pt x="0" y="8325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653659" y="204099"/>
            <a:ext cx="1262670" cy="1267725"/>
          </a:xfrm>
          <a:custGeom>
            <a:avLst/>
            <a:gdLst/>
            <a:ahLst/>
            <a:cxnLst/>
            <a:rect l="l" t="t" r="r" b="b"/>
            <a:pathLst>
              <a:path w="1262670" h="1267725">
                <a:moveTo>
                  <a:pt x="0" y="0"/>
                </a:moveTo>
                <a:lnTo>
                  <a:pt x="1262669" y="0"/>
                </a:lnTo>
                <a:lnTo>
                  <a:pt x="1262669" y="1267725"/>
                </a:lnTo>
                <a:lnTo>
                  <a:pt x="0" y="12677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723" t="-8289"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8545815" y="316378"/>
            <a:ext cx="1050972" cy="1043167"/>
          </a:xfrm>
          <a:custGeom>
            <a:avLst/>
            <a:gdLst/>
            <a:ahLst/>
            <a:cxnLst/>
            <a:rect l="l" t="t" r="r" b="b"/>
            <a:pathLst>
              <a:path w="1050972" h="1043167">
                <a:moveTo>
                  <a:pt x="0" y="0"/>
                </a:moveTo>
                <a:lnTo>
                  <a:pt x="1050971" y="0"/>
                </a:lnTo>
                <a:lnTo>
                  <a:pt x="1050971" y="1043167"/>
                </a:lnTo>
                <a:lnTo>
                  <a:pt x="0" y="1043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20" t="-2401" r="-820"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5678630" y="387842"/>
            <a:ext cx="1936646" cy="900238"/>
          </a:xfrm>
          <a:custGeom>
            <a:avLst/>
            <a:gdLst/>
            <a:ahLst/>
            <a:cxnLst/>
            <a:rect l="l" t="t" r="r" b="b"/>
            <a:pathLst>
              <a:path w="1936646" h="900238">
                <a:moveTo>
                  <a:pt x="0" y="0"/>
                </a:moveTo>
                <a:lnTo>
                  <a:pt x="1936647" y="0"/>
                </a:lnTo>
                <a:lnTo>
                  <a:pt x="1936647" y="900238"/>
                </a:lnTo>
                <a:lnTo>
                  <a:pt x="0" y="9002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1128090" y="2171700"/>
            <a:ext cx="16020816" cy="2697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77"/>
              </a:lnSpc>
            </a:pPr>
            <a:r>
              <a:rPr sz="4400" b="1" dirty="0"/>
              <a:t>THANK YOU</a:t>
            </a:r>
            <a:endParaRPr lang="en-US" sz="4400" b="1" dirty="0"/>
          </a:p>
        </p:txBody>
      </p:sp>
      <p:sp>
        <p:nvSpPr>
          <p:cNvPr id="17" name="TextBox 17"/>
          <p:cNvSpPr txBox="1"/>
          <p:nvPr/>
        </p:nvSpPr>
        <p:spPr>
          <a:xfrm>
            <a:off x="7970473" y="9685823"/>
            <a:ext cx="2336054" cy="425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4B4B46-E33F-D958-1112-43642FF9583B}"/>
              </a:ext>
            </a:extLst>
          </p:cNvPr>
          <p:cNvSpPr txBox="1"/>
          <p:nvPr/>
        </p:nvSpPr>
        <p:spPr>
          <a:xfrm>
            <a:off x="1287193" y="6175124"/>
            <a:ext cx="155682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Tx/>
              <a:buChar char="-"/>
            </a:pPr>
            <a:r>
              <a:rPr lang="en-US" sz="4400" dirty="0"/>
              <a:t>TEAMPIE</a:t>
            </a:r>
          </a:p>
          <a:p>
            <a:pPr algn="ctr"/>
            <a:r>
              <a:rPr lang="en-US" sz="4400" dirty="0"/>
              <a:t>“From Legal Awareness to Legal Protection.”</a:t>
            </a:r>
            <a:endParaRPr lang="en-IN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531</Words>
  <Application>Microsoft Office PowerPoint</Application>
  <PresentationFormat>Custom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Neue Machina Ultra-Bold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recursion 7.0 ppt</dc:title>
  <cp:lastModifiedBy>Kinjal Ojha</cp:lastModifiedBy>
  <cp:revision>4</cp:revision>
  <cp:lastPrinted>2026-03-18T10:16:10Z</cp:lastPrinted>
  <dcterms:created xsi:type="dcterms:W3CDTF">2006-08-16T00:00:00Z</dcterms:created>
  <dcterms:modified xsi:type="dcterms:W3CDTF">2026-03-18T11:50:48Z</dcterms:modified>
  <dc:identifier>DAHDWydOsYU</dc:identifier>
</cp:coreProperties>
</file>